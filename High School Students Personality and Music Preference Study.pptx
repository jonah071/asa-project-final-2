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Alexandria Medium"/>
      <p:regular r:id="rId21"/>
      <p:bold r:id="rId22"/>
    </p:embeddedFont>
    <p:embeddedFont>
      <p:font typeface="Albert Sans"/>
      <p:regular r:id="rId23"/>
      <p:bold r:id="rId24"/>
      <p:italic r:id="rId25"/>
      <p:boldItalic r:id="rId26"/>
    </p:embeddedFont>
    <p:embeddedFont>
      <p:font typeface="Alexandria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AlexandriaMedium-bold.fntdata"/><Relationship Id="rId21" Type="http://schemas.openxmlformats.org/officeDocument/2006/relationships/font" Target="fonts/AlexandriaMedium-regular.fntdata"/><Relationship Id="rId24" Type="http://schemas.openxmlformats.org/officeDocument/2006/relationships/font" Target="fonts/AlbertSans-bold.fntdata"/><Relationship Id="rId23" Type="http://schemas.openxmlformats.org/officeDocument/2006/relationships/font" Target="fonts/Albert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lbertSans-boldItalic.fntdata"/><Relationship Id="rId25" Type="http://schemas.openxmlformats.org/officeDocument/2006/relationships/font" Target="fonts/AlbertSans-italic.fntdata"/><Relationship Id="rId28" Type="http://schemas.openxmlformats.org/officeDocument/2006/relationships/font" Target="fonts/Alexandria-bold.fntdata"/><Relationship Id="rId27" Type="http://schemas.openxmlformats.org/officeDocument/2006/relationships/font" Target="fonts/Alexandria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558abb5fb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558abb5f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5703cb3a7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5703cb3a7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558abb5fb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558abb5fb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5685abcfc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5685abcf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58abb5fb3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58abb5fb3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412a5e79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412a5e79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5703cb3a7b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5703cb3a7b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72bee519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2572bee519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572bee519d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572bee519d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5703cb3a7b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25703cb3a7b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572bee519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572bee519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2bee519d_0_4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572bee519d_0_4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572bee519d_0_4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572bee519d_0_4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72bee519d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572bee519d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572bee519d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572bee519d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6ccebd18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96ccebd18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1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2272" l="-19690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711750" y="1958600"/>
            <a:ext cx="42801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4572000" y="5350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b="-40" l="36284" r="-6" t="3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"/>
          <p:cNvPicPr preferRelativeResize="0"/>
          <p:nvPr/>
        </p:nvPicPr>
        <p:blipFill rotWithShape="1">
          <a:blip r:embed="rId2">
            <a:alphaModFix/>
          </a:blip>
          <a:srcRect b="41636" l="174698" r="177064" t="-83399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15100" y="535000"/>
            <a:ext cx="3856800" cy="948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15100" y="1636300"/>
            <a:ext cx="3856800" cy="189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4"/>
          <p:cNvSpPr/>
          <p:nvPr>
            <p:ph idx="2" type="pic"/>
          </p:nvPr>
        </p:nvSpPr>
        <p:spPr>
          <a:xfrm>
            <a:off x="5715175" y="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idx="1" type="subTitle"/>
          </p:nvPr>
        </p:nvSpPr>
        <p:spPr>
          <a:xfrm>
            <a:off x="11897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5046650" y="1742900"/>
            <a:ext cx="2907600" cy="217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b="47851" l="104756" r="280063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7"/>
          <p:cNvPicPr preferRelativeResize="0"/>
          <p:nvPr/>
        </p:nvPicPr>
        <p:blipFill rotWithShape="1">
          <a:blip r:embed="rId2">
            <a:alphaModFix/>
          </a:blip>
          <a:srcRect b="34586" l="130684" r="175247" t="-50528"/>
          <a:stretch/>
        </p:blipFill>
        <p:spPr>
          <a:xfrm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7"/>
          <p:cNvSpPr txBox="1"/>
          <p:nvPr>
            <p:ph type="title"/>
          </p:nvPr>
        </p:nvSpPr>
        <p:spPr>
          <a:xfrm>
            <a:off x="715100" y="535000"/>
            <a:ext cx="3856800" cy="9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715100" y="1641400"/>
            <a:ext cx="3856800" cy="7263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" name="Google Shape;36;p7"/>
          <p:cNvSpPr/>
          <p:nvPr>
            <p:ph idx="2" type="pic"/>
          </p:nvPr>
        </p:nvSpPr>
        <p:spPr>
          <a:xfrm>
            <a:off x="5714900" y="-75"/>
            <a:ext cx="3429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8"/>
          <p:cNvPicPr preferRelativeResize="0"/>
          <p:nvPr/>
        </p:nvPicPr>
        <p:blipFill rotWithShape="1">
          <a:blip r:embed="rId2">
            <a:alphaModFix/>
          </a:blip>
          <a:srcRect b="2272" l="-19690" r="19690" t="41478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8"/>
          <p:cNvSpPr txBox="1"/>
          <p:nvPr>
            <p:ph type="title"/>
          </p:nvPr>
        </p:nvSpPr>
        <p:spPr>
          <a:xfrm>
            <a:off x="715100" y="535000"/>
            <a:ext cx="7713900" cy="231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9"/>
          <p:cNvPicPr preferRelativeResize="0"/>
          <p:nvPr/>
        </p:nvPicPr>
        <p:blipFill rotWithShape="1">
          <a:blip r:embed="rId2">
            <a:alphaModFix/>
          </a:blip>
          <a:srcRect b="-26995" l="7044" r="-48487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9"/>
          <p:cNvSpPr txBox="1"/>
          <p:nvPr>
            <p:ph type="title"/>
          </p:nvPr>
        </p:nvSpPr>
        <p:spPr>
          <a:xfrm>
            <a:off x="720000" y="535000"/>
            <a:ext cx="59253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4572000" y="3358100"/>
            <a:ext cx="3856800" cy="125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715100" y="4059800"/>
            <a:ext cx="7713600" cy="548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lt1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1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715100" y="3068600"/>
            <a:ext cx="7713900" cy="153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subTitle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hasCustomPrompt="1" type="title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2"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3" type="title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4" type="subTitle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5" type="title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6" type="subTitle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7" type="title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8" type="subTitle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9" type="title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3" type="subTitle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14" type="title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idx="15" type="subTitle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68" name="Google Shape;68;p13"/>
          <p:cNvSpPr txBox="1"/>
          <p:nvPr>
            <p:ph hasCustomPrompt="1" idx="16" type="title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idx="17" type="subTitle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hasCustomPrompt="1" idx="18" type="title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/>
          <p:nvPr>
            <p:ph idx="19" type="subTitle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b="-35825" l="-6644" r="27549" t="13471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76" name="Google Shape;76;p14"/>
          <p:cNvSpPr txBox="1"/>
          <p:nvPr>
            <p:ph idx="2" type="subTitle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 rotWithShape="1">
          <a:blip r:embed="rId2">
            <a:alphaModFix/>
          </a:blip>
          <a:srcRect b="2272" l="-19690" r="19690" t="41478"/>
          <a:stretch/>
        </p:blipFill>
        <p:spPr>
          <a:xfrm flipH="1" rot="10800000">
            <a:off x="0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>
            <p:ph type="title"/>
          </p:nvPr>
        </p:nvSpPr>
        <p:spPr>
          <a:xfrm>
            <a:off x="715100" y="2259575"/>
            <a:ext cx="4276800" cy="2317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7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572000" y="535000"/>
            <a:ext cx="3856500" cy="809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2">
    <p:bg>
      <p:bgPr>
        <a:solidFill>
          <a:schemeClr val="lt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6"/>
          <p:cNvPicPr preferRelativeResize="0"/>
          <p:nvPr/>
        </p:nvPicPr>
        <p:blipFill rotWithShape="1">
          <a:blip r:embed="rId2">
            <a:alphaModFix/>
          </a:blip>
          <a:srcRect b="-26995" l="7044" r="-48487" t="47434"/>
          <a:stretch/>
        </p:blipFill>
        <p:spPr>
          <a:xfrm flipH="1" rot="10800000">
            <a:off x="-12" y="-2285"/>
            <a:ext cx="9144000" cy="514807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6"/>
          <p:cNvSpPr txBox="1"/>
          <p:nvPr>
            <p:ph type="title"/>
          </p:nvPr>
        </p:nvSpPr>
        <p:spPr>
          <a:xfrm>
            <a:off x="715100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715100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">
    <p:bg>
      <p:bgPr>
        <a:solidFill>
          <a:schemeClr val="lt1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-5850" l="-50000" r="50000" t="4960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7"/>
          <p:cNvSpPr txBox="1"/>
          <p:nvPr>
            <p:ph type="title"/>
          </p:nvPr>
        </p:nvSpPr>
        <p:spPr>
          <a:xfrm>
            <a:off x="43022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3022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8"/>
          <p:cNvSpPr txBox="1"/>
          <p:nvPr>
            <p:ph type="title"/>
          </p:nvPr>
        </p:nvSpPr>
        <p:spPr>
          <a:xfrm>
            <a:off x="1545472" y="1931850"/>
            <a:ext cx="3704400" cy="548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1545472" y="2480550"/>
            <a:ext cx="3704400" cy="731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b="-5850" l="-50000" r="50000" t="4960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3" type="subTitle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idx="4" type="subTitle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/>
          <p:nvPr>
            <p:ph idx="1" type="subTitle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2" type="subTitle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6" name="Google Shape;106;p20"/>
          <p:cNvSpPr txBox="1"/>
          <p:nvPr>
            <p:ph idx="3" type="subTitle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4" type="subTitle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08" name="Google Shape;108;p20"/>
          <p:cNvSpPr txBox="1"/>
          <p:nvPr>
            <p:ph idx="5" type="subTitle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6" type="subTitle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BLANK_1_1_1_2_1">
    <p:bg>
      <p:bgPr>
        <a:solidFill>
          <a:schemeClr val="lt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b="-5850" l="-50000" r="50000" t="4960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21"/>
          <p:cNvSpPr txBox="1"/>
          <p:nvPr>
            <p:ph idx="2" type="subTitle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5" name="Google Shape;115;p21"/>
          <p:cNvSpPr txBox="1"/>
          <p:nvPr>
            <p:ph idx="3" type="subTitle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4" type="subTitle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5" type="subTitle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6" type="subTitle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 rotWithShape="1">
          <a:blip r:embed="rId2">
            <a:alphaModFix/>
          </a:blip>
          <a:srcRect b="47851" l="104756" r="280063" t="-108210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7151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" name="Google Shape;123;p22"/>
          <p:cNvSpPr txBox="1"/>
          <p:nvPr>
            <p:ph idx="2" type="subTitle"/>
          </p:nvPr>
        </p:nvSpPr>
        <p:spPr>
          <a:xfrm>
            <a:off x="7151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3" type="subTitle"/>
          </p:nvPr>
        </p:nvSpPr>
        <p:spPr>
          <a:xfrm>
            <a:off x="7151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5" name="Google Shape;125;p22"/>
          <p:cNvSpPr txBox="1"/>
          <p:nvPr>
            <p:ph idx="4" type="subTitle"/>
          </p:nvPr>
        </p:nvSpPr>
        <p:spPr>
          <a:xfrm>
            <a:off x="7151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6" name="Google Shape;126;p22"/>
          <p:cNvSpPr txBox="1"/>
          <p:nvPr>
            <p:ph idx="5" type="subTitle"/>
          </p:nvPr>
        </p:nvSpPr>
        <p:spPr>
          <a:xfrm>
            <a:off x="4648300" y="20465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" name="Google Shape;127;p22"/>
          <p:cNvSpPr txBox="1"/>
          <p:nvPr>
            <p:ph idx="6" type="subTitle"/>
          </p:nvPr>
        </p:nvSpPr>
        <p:spPr>
          <a:xfrm>
            <a:off x="4648300" y="3299000"/>
            <a:ext cx="3780600" cy="72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2"/>
          <p:cNvSpPr txBox="1"/>
          <p:nvPr>
            <p:ph idx="7" type="subTitle"/>
          </p:nvPr>
        </p:nvSpPr>
        <p:spPr>
          <a:xfrm>
            <a:off x="4648300" y="16667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29" name="Google Shape;129;p22"/>
          <p:cNvSpPr txBox="1"/>
          <p:nvPr>
            <p:ph idx="8" type="subTitle"/>
          </p:nvPr>
        </p:nvSpPr>
        <p:spPr>
          <a:xfrm>
            <a:off x="4648300" y="291920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subTitle"/>
          </p:nvPr>
        </p:nvSpPr>
        <p:spPr>
          <a:xfrm>
            <a:off x="715100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idx="2" type="subTitle"/>
          </p:nvPr>
        </p:nvSpPr>
        <p:spPr>
          <a:xfrm>
            <a:off x="715100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23"/>
          <p:cNvSpPr txBox="1"/>
          <p:nvPr>
            <p:ph idx="3" type="subTitle"/>
          </p:nvPr>
        </p:nvSpPr>
        <p:spPr>
          <a:xfrm>
            <a:off x="7151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5" name="Google Shape;135;p23"/>
          <p:cNvSpPr txBox="1"/>
          <p:nvPr>
            <p:ph idx="4" type="subTitle"/>
          </p:nvPr>
        </p:nvSpPr>
        <p:spPr>
          <a:xfrm>
            <a:off x="7151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6" name="Google Shape;136;p23"/>
          <p:cNvSpPr txBox="1"/>
          <p:nvPr>
            <p:ph idx="5" type="subTitle"/>
          </p:nvPr>
        </p:nvSpPr>
        <p:spPr>
          <a:xfrm>
            <a:off x="3355799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6" type="subTitle"/>
          </p:nvPr>
        </p:nvSpPr>
        <p:spPr>
          <a:xfrm>
            <a:off x="3355799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7" type="subTitle"/>
          </p:nvPr>
        </p:nvSpPr>
        <p:spPr>
          <a:xfrm>
            <a:off x="3355800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39" name="Google Shape;139;p23"/>
          <p:cNvSpPr txBox="1"/>
          <p:nvPr>
            <p:ph idx="8" type="subTitle"/>
          </p:nvPr>
        </p:nvSpPr>
        <p:spPr>
          <a:xfrm>
            <a:off x="3355800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0" name="Google Shape;140;p23"/>
          <p:cNvSpPr txBox="1"/>
          <p:nvPr>
            <p:ph idx="9" type="subTitle"/>
          </p:nvPr>
        </p:nvSpPr>
        <p:spPr>
          <a:xfrm>
            <a:off x="5996501" y="18797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1" name="Google Shape;141;p23"/>
          <p:cNvSpPr txBox="1"/>
          <p:nvPr>
            <p:ph idx="13" type="subTitle"/>
          </p:nvPr>
        </p:nvSpPr>
        <p:spPr>
          <a:xfrm>
            <a:off x="5996501" y="3574400"/>
            <a:ext cx="2432400" cy="887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4" type="subTitle"/>
          </p:nvPr>
        </p:nvSpPr>
        <p:spPr>
          <a:xfrm>
            <a:off x="5996503" y="12245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43" name="Google Shape;143;p23"/>
          <p:cNvSpPr txBox="1"/>
          <p:nvPr>
            <p:ph idx="15" type="subTitle"/>
          </p:nvPr>
        </p:nvSpPr>
        <p:spPr>
          <a:xfrm>
            <a:off x="5996503" y="2919200"/>
            <a:ext cx="2432400" cy="7314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4"/>
          <p:cNvPicPr preferRelativeResize="0"/>
          <p:nvPr/>
        </p:nvPicPr>
        <p:blipFill rotWithShape="1">
          <a:blip r:embed="rId2">
            <a:alphaModFix/>
          </a:blip>
          <a:srcRect b="-5850" l="-50000" r="50000" t="4960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4"/>
          <p:cNvSpPr txBox="1"/>
          <p:nvPr>
            <p:ph hasCustomPrompt="1" type="title"/>
          </p:nvPr>
        </p:nvSpPr>
        <p:spPr>
          <a:xfrm>
            <a:off x="715100" y="9830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7" name="Google Shape;147;p24"/>
          <p:cNvSpPr txBox="1"/>
          <p:nvPr>
            <p:ph idx="1" type="subTitle"/>
          </p:nvPr>
        </p:nvSpPr>
        <p:spPr>
          <a:xfrm>
            <a:off x="715100" y="18587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8" name="Google Shape;148;p24"/>
          <p:cNvSpPr txBox="1"/>
          <p:nvPr>
            <p:ph hasCustomPrompt="1" idx="2" type="title"/>
          </p:nvPr>
        </p:nvSpPr>
        <p:spPr>
          <a:xfrm>
            <a:off x="715100" y="2921600"/>
            <a:ext cx="7713900" cy="9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49" name="Google Shape;149;p24"/>
          <p:cNvSpPr txBox="1"/>
          <p:nvPr>
            <p:ph idx="3" type="subTitle"/>
          </p:nvPr>
        </p:nvSpPr>
        <p:spPr>
          <a:xfrm>
            <a:off x="715100" y="3797300"/>
            <a:ext cx="77139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BLANK_1_1_1_1_1_1_3">
    <p:bg>
      <p:bgPr>
        <a:solidFill>
          <a:schemeClr val="lt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5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5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3" name="Google Shape;153;p25"/>
          <p:cNvSpPr txBox="1"/>
          <p:nvPr>
            <p:ph hasCustomPrompt="1" idx="2" type="title"/>
          </p:nvPr>
        </p:nvSpPr>
        <p:spPr>
          <a:xfrm>
            <a:off x="7151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54" name="Google Shape;154;p25"/>
          <p:cNvSpPr txBox="1"/>
          <p:nvPr>
            <p:ph idx="1" type="subTitle"/>
          </p:nvPr>
        </p:nvSpPr>
        <p:spPr>
          <a:xfrm>
            <a:off x="7151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3" type="subTitle"/>
          </p:nvPr>
        </p:nvSpPr>
        <p:spPr>
          <a:xfrm>
            <a:off x="7151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6" name="Google Shape;156;p25"/>
          <p:cNvSpPr txBox="1"/>
          <p:nvPr>
            <p:ph idx="4" type="subTitle"/>
          </p:nvPr>
        </p:nvSpPr>
        <p:spPr>
          <a:xfrm>
            <a:off x="4648300" y="3291950"/>
            <a:ext cx="3780600" cy="8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7" name="Google Shape;157;p25"/>
          <p:cNvSpPr txBox="1"/>
          <p:nvPr>
            <p:ph idx="5" type="subTitle"/>
          </p:nvPr>
        </p:nvSpPr>
        <p:spPr>
          <a:xfrm>
            <a:off x="4648300" y="29121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158" name="Google Shape;158;p25"/>
          <p:cNvSpPr txBox="1"/>
          <p:nvPr>
            <p:ph hasCustomPrompt="1" idx="6" type="title"/>
          </p:nvPr>
        </p:nvSpPr>
        <p:spPr>
          <a:xfrm>
            <a:off x="4648300" y="2532350"/>
            <a:ext cx="3780600" cy="456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2880">
          <p15:clr>
            <a:srgbClr val="E46962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">
    <p:bg>
      <p:bgPr>
        <a:solidFill>
          <a:schemeClr val="lt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_1"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flipH="1" rot="10800000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_1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b="-11171" l="-6644" r="27549" t="-11183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9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9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flipH="1"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9"/>
          <p:cNvSpPr txBox="1"/>
          <p:nvPr>
            <p:ph type="ctrTitle"/>
          </p:nvPr>
        </p:nvSpPr>
        <p:spPr>
          <a:xfrm>
            <a:off x="715100" y="3330625"/>
            <a:ext cx="3856800" cy="125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2" name="Google Shape;172;p29"/>
          <p:cNvSpPr txBox="1"/>
          <p:nvPr>
            <p:ph idx="1" type="subTitle"/>
          </p:nvPr>
        </p:nvSpPr>
        <p:spPr>
          <a:xfrm>
            <a:off x="4571900" y="535000"/>
            <a:ext cx="2683800" cy="11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3" name="Google Shape;173;p29"/>
          <p:cNvSpPr txBox="1"/>
          <p:nvPr/>
        </p:nvSpPr>
        <p:spPr>
          <a:xfrm>
            <a:off x="4571863" y="2278000"/>
            <a:ext cx="26838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 This presentation template was created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1"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r>
              <a:rPr lang="en" sz="9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and infographics &amp; images by </a:t>
            </a:r>
            <a:r>
              <a:rPr b="1" lang="en" sz="900">
                <a:solidFill>
                  <a:schemeClr val="dk1"/>
                </a:solidFill>
                <a:uFill>
                  <a:noFill/>
                </a:u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9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b="-35825" l="-6644" r="27549" t="13471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b="-108521" l="-235243" r="44461" t="44962"/>
          <a:stretch/>
        </p:blipFill>
        <p:spPr>
          <a:xfrm flipH="1" rot="10800000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b="-6812" l="-55210" r="55210" t="50562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accent6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Relationship Id="rId4" Type="http://schemas.openxmlformats.org/officeDocument/2006/relationships/image" Target="../media/image21.jpg"/><Relationship Id="rId5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Relationship Id="rId4" Type="http://schemas.openxmlformats.org/officeDocument/2006/relationships/image" Target="../media/image1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jpg"/><Relationship Id="rId4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ctrTitle"/>
          </p:nvPr>
        </p:nvSpPr>
        <p:spPr>
          <a:xfrm>
            <a:off x="1711800" y="951525"/>
            <a:ext cx="5720400" cy="26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High School Students Personality and Music Preference Study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/>
          </a:p>
        </p:txBody>
      </p:sp>
      <p:sp>
        <p:nvSpPr>
          <p:cNvPr id="185" name="Google Shape;185;p32"/>
          <p:cNvSpPr txBox="1"/>
          <p:nvPr>
            <p:ph idx="1" type="subTitle"/>
          </p:nvPr>
        </p:nvSpPr>
        <p:spPr>
          <a:xfrm>
            <a:off x="2587650" y="3393700"/>
            <a:ext cx="3860400" cy="38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Carla Angulo, Jonah Clough, and Juliana Guerra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00150" y="54387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Research Questions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00150" y="1497925"/>
            <a:ext cx="8543700" cy="40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RQ1</a:t>
            </a:r>
            <a:r>
              <a:rPr lang="en"/>
              <a:t>: I</a:t>
            </a:r>
            <a:r>
              <a:rPr lang="en"/>
              <a:t>s there an association between introversion/extroversion personality type and preferred music genre among high school students?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Ho= Music preference and personality type ARE independent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Ha= Music preference and personality type ARE </a:t>
            </a:r>
            <a:r>
              <a:rPr i="1" lang="en"/>
              <a:t>associated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RQ2:</a:t>
            </a:r>
            <a:r>
              <a:rPr lang="en"/>
              <a:t> Is there a difference in the amount of hours someone listens to music based on their personality type?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Ho= Introverts and extroverts do not differ in the number of hours they listen to music per day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Ha= There IS a difference between the number of hours that introverts and extroverts listen to per day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32125" y="19462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Literature Review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197" name="Google Shape;197;p34"/>
          <p:cNvSpPr txBox="1"/>
          <p:nvPr>
            <p:ph idx="4294967295" type="body"/>
          </p:nvPr>
        </p:nvSpPr>
        <p:spPr>
          <a:xfrm>
            <a:off x="212275" y="1494300"/>
            <a:ext cx="6321900" cy="28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Rentfrow &amp; gosling (2003)</a:t>
            </a:r>
            <a:br>
              <a:rPr lang="en"/>
            </a:br>
            <a:r>
              <a:rPr lang="en"/>
              <a:t>Extroverts prefer energetic, rhythmic music (pop, hip-hop), while introverts prefer complex, reflective music (classical, jazz)</a:t>
            </a:r>
            <a:br>
              <a:rPr lang="en"/>
            </a:b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Schafer &amp; Mehlhorn (2017)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traits have consistent but moderate correlations with music preferences but are still impacted by other </a:t>
            </a:r>
            <a:r>
              <a:rPr lang="en"/>
              <a:t>factors (culture)</a:t>
            </a:r>
            <a:br>
              <a:rPr lang="en"/>
            </a:b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North &amp; Hargreaves (2008)</a:t>
            </a:r>
            <a:br>
              <a:rPr lang="en"/>
            </a:br>
            <a:r>
              <a:rPr lang="en"/>
              <a:t>Music is shaped by social identity, peers, and culture, not just personality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Question: could personality affect the type of music people listen to?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5"/>
          <p:cNvSpPr txBox="1"/>
          <p:nvPr>
            <p:ph type="title"/>
          </p:nvPr>
        </p:nvSpPr>
        <p:spPr>
          <a:xfrm>
            <a:off x="353800" y="36787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Literature Review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3" name="Google Shape;203;p35"/>
          <p:cNvSpPr txBox="1"/>
          <p:nvPr>
            <p:ph idx="4294967295" type="body"/>
          </p:nvPr>
        </p:nvSpPr>
        <p:spPr>
          <a:xfrm>
            <a:off x="895975" y="1432175"/>
            <a:ext cx="6765000" cy="28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Rossi, Oasi, &amp; Colombo (2024)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Personality affects frequency and intensity of music listening.</a:t>
            </a:r>
            <a:br>
              <a:rPr lang="en"/>
            </a:b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Linnemann et al. (2018) and Greb, schlotz, &amp; steffens (2016)</a:t>
            </a:r>
            <a:br>
              <a:rPr lang="en"/>
            </a:br>
            <a:r>
              <a:rPr lang="en"/>
              <a:t>Listening depends on personality driven goals</a:t>
            </a:r>
            <a:br>
              <a:rPr lang="en"/>
            </a:br>
            <a:r>
              <a:rPr lang="en"/>
              <a:t>	Extraverts have longer sessions, social/mood boosting listening</a:t>
            </a:r>
            <a:br>
              <a:rPr lang="en"/>
            </a:br>
            <a:r>
              <a:rPr lang="en"/>
              <a:t>	Introverts have shorter, focused/reflective listening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Chamorro-Premuzic &amp; Furnham (2007)</a:t>
            </a:r>
            <a:br>
              <a:rPr lang="en"/>
            </a:br>
            <a:r>
              <a:rPr lang="en"/>
              <a:t>Personality predicts frequency, duration, and purpose of music use.</a:t>
            </a:r>
            <a:br>
              <a:rPr lang="en"/>
            </a:br>
            <a:br>
              <a:rPr lang="en"/>
            </a:br>
            <a:r>
              <a:rPr lang="en"/>
              <a:t>Our Question: can personality determine how long </a:t>
            </a:r>
            <a:r>
              <a:rPr lang="en"/>
              <a:t>people</a:t>
            </a:r>
            <a:r>
              <a:rPr lang="en"/>
              <a:t> listen to music?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53800" y="27042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Survey Design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09" name="Google Shape;209;p36"/>
          <p:cNvSpPr txBox="1"/>
          <p:nvPr>
            <p:ph idx="4294967295" type="body"/>
          </p:nvPr>
        </p:nvSpPr>
        <p:spPr>
          <a:xfrm>
            <a:off x="303175" y="1079525"/>
            <a:ext cx="8251200" cy="3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High school students were randomly selected from multiple classes.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All classes at Doral Academy were assigned a numerical code from 001 to 149. 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random number generator was used to select four of these class codes, which corresponded to four classrooms where participants would be chosen.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Within each of the four selected classrooms, 13 students were randomly selected based on the classroom phone chart pocket numbers.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random number generator was used to generate 13 numbers that corresponded to the pocket numbers assigned to students in each class.</a:t>
            </a:r>
            <a:endParaRPr sz="1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total of 52 participants were shown a QR code with a link to an anonymous Google Forms survey.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>
            <p:ph type="title"/>
          </p:nvPr>
        </p:nvSpPr>
        <p:spPr>
          <a:xfrm>
            <a:off x="332150" y="21802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Survey Questions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15" name="Google Shape;215;p37"/>
          <p:cNvSpPr txBox="1"/>
          <p:nvPr>
            <p:ph idx="4294967295" type="body"/>
          </p:nvPr>
        </p:nvSpPr>
        <p:spPr>
          <a:xfrm>
            <a:off x="3649175" y="1027125"/>
            <a:ext cx="3508500" cy="3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Please select your result on the MBTI personality test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ENFP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ESFJ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ISTP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ISFP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Times New Roman"/>
              <a:buChar char="❏"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ESFP 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6" name="Google Shape;216;p37"/>
          <p:cNvSpPr txBox="1"/>
          <p:nvPr/>
        </p:nvSpPr>
        <p:spPr>
          <a:xfrm>
            <a:off x="244850" y="1027125"/>
            <a:ext cx="3783300" cy="37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What grade are you in?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9th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10th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11th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12th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Based on the MBTI personality test, do you identify as an extrovert or introvert?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Introvert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Extrovert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How accurate do you think your personality result is?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Very accurate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Somewhat accurate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Not very accurate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Not accurate at all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17" name="Google Shape;217;p37"/>
          <p:cNvSpPr txBox="1"/>
          <p:nvPr/>
        </p:nvSpPr>
        <p:spPr>
          <a:xfrm>
            <a:off x="5836525" y="1722825"/>
            <a:ext cx="30000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What is your favorite music genre? (choose one)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Pop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Indie/Alternative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Rap/Hip-hop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Rock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R&amp;B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Country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Electronic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Classical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Reggaeton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House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Char char="❏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Other: _______ </a:t>
            </a:r>
            <a:endParaRPr sz="1200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32150" y="248775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Survey Results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223" name="Google Shape;223;p38" title="Screenshot 2026-04-01 at 10.55.23 PM.png"/>
          <p:cNvPicPr preferRelativeResize="0"/>
          <p:nvPr/>
        </p:nvPicPr>
        <p:blipFill rotWithShape="1">
          <a:blip r:embed="rId3">
            <a:alphaModFix/>
          </a:blip>
          <a:srcRect b="0" l="0" r="20917" t="0"/>
          <a:stretch/>
        </p:blipFill>
        <p:spPr>
          <a:xfrm>
            <a:off x="2" y="1307600"/>
            <a:ext cx="3272797" cy="17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8" title="Screenshot 2026-04-01 at 11.01.53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2850" y="1415900"/>
            <a:ext cx="3130299" cy="17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8" title="Screenshot 2026-04-01 at 11.00.16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680" y="2982750"/>
            <a:ext cx="2848844" cy="15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8" title="Screenshot 2026-04-01 at 10.59.41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97500" y="3151750"/>
            <a:ext cx="3068976" cy="15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8" title="Screenshot 2026-04-01 at 10.58.19 PM.png"/>
          <p:cNvPicPr preferRelativeResize="0"/>
          <p:nvPr/>
        </p:nvPicPr>
        <p:blipFill rotWithShape="1">
          <a:blip r:embed="rId7">
            <a:alphaModFix/>
          </a:blip>
          <a:srcRect b="0" l="0" r="19035" t="0"/>
          <a:stretch/>
        </p:blipFill>
        <p:spPr>
          <a:xfrm>
            <a:off x="5614825" y="3483795"/>
            <a:ext cx="3068975" cy="15552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8" title="Screenshot 2026-04-01 at 10.57.14 PM.png"/>
          <p:cNvPicPr preferRelativeResize="0"/>
          <p:nvPr/>
        </p:nvPicPr>
        <p:blipFill rotWithShape="1">
          <a:blip r:embed="rId8">
            <a:alphaModFix/>
          </a:blip>
          <a:srcRect b="0" l="0" r="18864" t="0"/>
          <a:stretch/>
        </p:blipFill>
        <p:spPr>
          <a:xfrm>
            <a:off x="5974938" y="248781"/>
            <a:ext cx="2966574" cy="16406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8" title="Screenshot 2026-04-01 at 10.56.26 PM.png"/>
          <p:cNvPicPr preferRelativeResize="0"/>
          <p:nvPr/>
        </p:nvPicPr>
        <p:blipFill rotWithShape="1">
          <a:blip r:embed="rId9">
            <a:alphaModFix/>
          </a:blip>
          <a:srcRect b="0" l="0" r="25844" t="0"/>
          <a:stretch/>
        </p:blipFill>
        <p:spPr>
          <a:xfrm>
            <a:off x="5974950" y="1798650"/>
            <a:ext cx="2966550" cy="16851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Relationship Between Variables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35" name="Google Shape;235;p39"/>
          <p:cNvSpPr txBox="1"/>
          <p:nvPr>
            <p:ph idx="4294967295" type="body"/>
          </p:nvPr>
        </p:nvSpPr>
        <p:spPr>
          <a:xfrm>
            <a:off x="456400" y="1540050"/>
            <a:ext cx="7701900" cy="20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Examines the relationship between grade level, MBTI personality type, and favorite music genre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Explores how personality and student development may influence music preference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Investigates </a:t>
            </a:r>
            <a:r>
              <a:rPr lang="en" sz="1800"/>
              <a:t>whether</a:t>
            </a:r>
            <a:r>
              <a:rPr lang="en" sz="1800"/>
              <a:t> students in different grades or personality categories show different genre preferences</a:t>
            </a:r>
            <a:endParaRPr sz="1800"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Seeks to identify meaningful patterns among these variables </a:t>
            </a:r>
            <a:endParaRPr sz="18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0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Scatterplot Data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241" name="Google Shape;241;p40" title="IMG_054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150" y="1285200"/>
            <a:ext cx="3480224" cy="335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 title="IMG_0549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10450" y="1361400"/>
            <a:ext cx="2489625" cy="3204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40" title="IMG_055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15450" y="1812598"/>
            <a:ext cx="1984524" cy="25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 txBox="1"/>
          <p:nvPr>
            <p:ph type="title"/>
          </p:nvPr>
        </p:nvSpPr>
        <p:spPr>
          <a:xfrm>
            <a:off x="332150" y="335400"/>
            <a:ext cx="59010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Scatterplot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49" name="Google Shape;249;p41"/>
          <p:cNvSpPr txBox="1"/>
          <p:nvPr>
            <p:ph idx="4294967295" type="body"/>
          </p:nvPr>
        </p:nvSpPr>
        <p:spPr>
          <a:xfrm>
            <a:off x="411450" y="1152600"/>
            <a:ext cx="5288400" cy="28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can be the part of the presentation where you </a:t>
            </a:r>
            <a:r>
              <a:rPr b="1" lang="en"/>
              <a:t>introduce yourself</a:t>
            </a:r>
            <a:r>
              <a:rPr lang="en"/>
              <a:t>, write your email or contact data…</a:t>
            </a:r>
            <a:endParaRPr/>
          </a:p>
        </p:txBody>
      </p:sp>
      <p:pic>
        <p:nvPicPr>
          <p:cNvPr id="250" name="Google Shape;25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150" y="1922175"/>
            <a:ext cx="8880698" cy="1883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5550" y="152400"/>
            <a:ext cx="2238375" cy="140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idx="4294967295"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Descriptive Statistics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57" name="Google Shape;257;p42"/>
          <p:cNvSpPr txBox="1"/>
          <p:nvPr>
            <p:ph idx="4294967295" type="body"/>
          </p:nvPr>
        </p:nvSpPr>
        <p:spPr>
          <a:xfrm>
            <a:off x="332150" y="1734950"/>
            <a:ext cx="4822200" cy="20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Mean= 3.52 hours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Standard deviation= approx 2.3 hours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Median= 3 hours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Ranged= 1 to 10 days per hours.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Distribution appears to be skewed to the right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258" name="Google Shape;25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6200" y="1734950"/>
            <a:ext cx="2800350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3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RQ1 </a:t>
            </a: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Calculations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264" name="Google Shape;264;p43" title="IMG_054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50" y="1484475"/>
            <a:ext cx="3852976" cy="2782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3" title="IMG_0545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0025" y="1578275"/>
            <a:ext cx="4883979" cy="278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RQ2 Calculations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pic>
        <p:nvPicPr>
          <p:cNvPr id="271" name="Google Shape;271;p44" title="IMG_054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50" y="1338300"/>
            <a:ext cx="4430349" cy="267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4" title="IMG_0547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1750" y="1306025"/>
            <a:ext cx="4189326" cy="290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5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latin typeface="Alexandria"/>
                <a:ea typeface="Alexandria"/>
                <a:cs typeface="Alexandria"/>
                <a:sym typeface="Alexandria"/>
              </a:rPr>
              <a:t>Conclusion</a:t>
            </a:r>
            <a:endParaRPr b="1" sz="40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78" name="Google Shape;278;p45"/>
          <p:cNvSpPr txBox="1"/>
          <p:nvPr>
            <p:ph idx="1" type="body"/>
          </p:nvPr>
        </p:nvSpPr>
        <p:spPr>
          <a:xfrm>
            <a:off x="648600" y="1081050"/>
            <a:ext cx="7846800" cy="28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Contrary to common assumptions that personality type strongly influences music taste, this study did not find a statistically significant association between </a:t>
            </a:r>
            <a:r>
              <a:rPr b="1" lang="en" sz="1300">
                <a:solidFill>
                  <a:srgbClr val="000000"/>
                </a:solidFill>
              </a:rPr>
              <a:t>personality type</a:t>
            </a:r>
            <a:r>
              <a:rPr lang="en" sz="1300">
                <a:solidFill>
                  <a:srgbClr val="000000"/>
                </a:solidFill>
              </a:rPr>
              <a:t> and </a:t>
            </a:r>
            <a:r>
              <a:rPr b="1" lang="en" sz="1300">
                <a:solidFill>
                  <a:srgbClr val="000000"/>
                </a:solidFill>
              </a:rPr>
              <a:t>music preference</a:t>
            </a:r>
            <a:r>
              <a:rPr lang="en" sz="1300">
                <a:solidFill>
                  <a:srgbClr val="000000"/>
                </a:solidFill>
              </a:rPr>
              <a:t> among students in the sample. Additionally, the analysis of average hours spent listening to music showed no meaningful difference between introverts and extroverts, suggesting similar listening behaviors across personality classifications.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Students may be influenced more by </a:t>
            </a:r>
            <a:r>
              <a:rPr b="1" lang="en" sz="1300">
                <a:solidFill>
                  <a:srgbClr val="000000"/>
                </a:solidFill>
              </a:rPr>
              <a:t>social environment and cultural trends</a:t>
            </a:r>
            <a:r>
              <a:rPr lang="en" sz="1300">
                <a:solidFill>
                  <a:srgbClr val="000000"/>
                </a:solidFill>
              </a:rPr>
              <a:t> than by personality alone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 Music preference is highly </a:t>
            </a:r>
            <a:r>
              <a:rPr b="1" lang="en" sz="1300">
                <a:solidFill>
                  <a:srgbClr val="000000"/>
                </a:solidFill>
              </a:rPr>
              <a:t>subjective and multifaceted</a:t>
            </a:r>
            <a:r>
              <a:rPr lang="en" sz="1300">
                <a:solidFill>
                  <a:srgbClr val="000000"/>
                </a:solidFill>
              </a:rPr>
              <a:t>, making it difficult to capture clear patterns with broad genre categories.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 The use of </a:t>
            </a:r>
            <a:r>
              <a:rPr b="1" lang="en" sz="1300">
                <a:solidFill>
                  <a:srgbClr val="000000"/>
                </a:solidFill>
              </a:rPr>
              <a:t>MBTI classifications</a:t>
            </a:r>
            <a:r>
              <a:rPr lang="en" sz="1300">
                <a:solidFill>
                  <a:srgbClr val="000000"/>
                </a:solidFill>
              </a:rPr>
              <a:t> may not fully represent the complexity of personality traits.</a:t>
            </a:r>
            <a:endParaRPr sz="1300">
              <a:solidFill>
                <a:srgbClr val="000000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" sz="1300">
                <a:solidFill>
                  <a:srgbClr val="000000"/>
                </a:solidFill>
              </a:rPr>
              <a:t>Had to reduce the groups for music preference which may have reduced variability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00"/>
                </a:solidFill>
              </a:rPr>
              <a:t>Because this was an </a:t>
            </a:r>
            <a:r>
              <a:rPr b="1" lang="en" sz="1300">
                <a:solidFill>
                  <a:srgbClr val="000000"/>
                </a:solidFill>
              </a:rPr>
              <a:t>observational study</a:t>
            </a:r>
            <a:r>
              <a:rPr lang="en" sz="1300">
                <a:solidFill>
                  <a:srgbClr val="000000"/>
                </a:solidFill>
              </a:rPr>
              <a:t>, causation cannot be inferred.</a:t>
            </a:r>
            <a:endParaRPr sz="13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6"/>
          <p:cNvSpPr txBox="1"/>
          <p:nvPr>
            <p:ph type="title"/>
          </p:nvPr>
        </p:nvSpPr>
        <p:spPr>
          <a:xfrm>
            <a:off x="332150" y="3354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Alexandria"/>
                <a:ea typeface="Alexandria"/>
                <a:cs typeface="Alexandria"/>
                <a:sym typeface="Alexandria"/>
              </a:rPr>
              <a:t>Future Directions and Limitations</a:t>
            </a:r>
            <a:endParaRPr b="1" sz="3800">
              <a:latin typeface="Alexandria"/>
              <a:ea typeface="Alexandria"/>
              <a:cs typeface="Alexandria"/>
              <a:sym typeface="Alexandria"/>
            </a:endParaRPr>
          </a:p>
        </p:txBody>
      </p:sp>
      <p:sp>
        <p:nvSpPr>
          <p:cNvPr id="284" name="Google Shape;284;p46"/>
          <p:cNvSpPr txBox="1"/>
          <p:nvPr>
            <p:ph idx="4294967295" type="body"/>
          </p:nvPr>
        </p:nvSpPr>
        <p:spPr>
          <a:xfrm>
            <a:off x="4772050" y="1642775"/>
            <a:ext cx="3877200" cy="20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study relied on self-reported survey data, which may introduce measurement error or response bias.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The study was conducted within one school population, limiting the generalizability of the findings beyond that setting.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MBTI personality classifications may oversimplify personality and may not capture the full complexity of individual traits.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5" name="Google Shape;285;p46"/>
          <p:cNvSpPr txBox="1"/>
          <p:nvPr>
            <p:ph idx="4294967295" type="body"/>
          </p:nvPr>
        </p:nvSpPr>
        <p:spPr>
          <a:xfrm>
            <a:off x="576750" y="1642775"/>
            <a:ext cx="3877200" cy="206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Expand the study to include multiple schools or age groups for broader generalizability.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Incorporate more detailed or multidimensional personality assessments beyond broad MBTI classifications.</a:t>
            </a:r>
            <a:endParaRPr>
              <a:solidFill>
                <a:srgbClr val="000000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lang="en">
                <a:solidFill>
                  <a:srgbClr val="000000"/>
                </a:solidFill>
              </a:rPr>
              <a:t>Investigate how factors like culture, peer groups, or mood regulation may influence music preference.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1453650" y="2167200"/>
            <a:ext cx="8601300" cy="8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Alexandria"/>
                <a:ea typeface="Alexandria"/>
                <a:cs typeface="Alexandria"/>
                <a:sym typeface="Alexandria"/>
              </a:rPr>
              <a:t>Thank you!</a:t>
            </a:r>
            <a:endParaRPr b="1" sz="3800">
              <a:latin typeface="Alexandria"/>
              <a:ea typeface="Alexandria"/>
              <a:cs typeface="Alexandria"/>
              <a:sym typeface="Alexand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ead Funnel by Slidesgo">
  <a:themeElements>
    <a:clrScheme name="Simple Ligh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135669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